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explains Dijkstra’s algorithm: what problem it solves, how it works, a worked example, its cost, its limits, and where it is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problem. A weighted graph has a cost on every edge. We want the cheapest route from one source to all other vertices. Dijkstra’s algorithm requires every weight to be zero or 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Dijkstra worked it out in 1956 and published a short note in 1959. He won the Turing Award in 1972, for fundamental contributions to programming languages and the discipline of structured programming.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insight. Among all unvisited vertices, the one with the smallest known distance cannot be improved later, because every other path would have to pass through a vertex that is at least as far away. Relaxation means checking whether going through the newly settled vertex gives a shorter route to its neighbours.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steps. Initialise distances, repeatedly pick the closest unvisited vertex, relax its outgoing edges, and stop when every vertex has been settled. Next slide shows this on a small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example graph. The source A is highlighted in amber. Edge weights are shown on each edge: A-B 4, A-C 2, B-C 1, B-D 5, C-D 8, C-E 10, D-E 2. The next slide traces the algorithm step by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table row by row. Visiting A sets B to 4 and C to 2. Visiting C improves B to 3 and sets D to 10 and E to 12. Visiting B improves D to 8. Visiting D improves E to 10. The last row holds the final shortest distances from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algorithm in a few lines. The inner if statement is the relaxation step. The prev array lets you rebuild the actual path by walking back from any target to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cost depends on how you find the closest unvisited vertex. A plain array scan gives O(V squared). A binary heap gives O((V plus E) log V), which is what most libraries use. A Fibonacci heap improves the bound to O(E plus V log V) but is rarely used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limitation is that edge weights must not be negative. The greedy argument fails otherwise, since a longer-looking route might shrink later. Use Bellman-Ford when negative weights exist, BFS for unweighted graphs, and A-star when you only need a path to a single target and have a good heuristic.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Anywhere a problem can be modelled as a weighted graph with non-negative costs, Dijkstra’s algorithm or a variant of it is a natural fit. Link-state routing protocols such as OSPF and IS-IS use it to compute shortest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points, then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15721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23441"/>
            <a:ext cx="10566400" cy="392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15721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23441"/>
            <a:ext cx="10566400" cy="392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4900" y="623824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Made with Claude</a:t>
            </a:r>
            <a:endParaRPr lang="en-US" sz="1200" dirty="0"/>
          </a:p>
        </p:txBody>
      </p:sp>
      <p:pic>
        <p:nvPicPr>
          <p:cNvPr id="3" name="Image 0" descr="A small graph of five connected nodes with one highlighted pat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397000"/>
            <a:ext cx="4064000" cy="406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167894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ALGORITHMS · GRAPH THEORY</a:t>
            </a:r>
            <a:endParaRPr lang="en-US" sz="14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2181860"/>
            <a:ext cx="10883392" cy="183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140"/>
              </a:lnSpc>
              <a:buNone/>
            </a:pPr>
            <a:r>
              <a:rPr lang="en-US" sz="6800" b="1" i="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Dijkstra’s</a:t>
            </a:r>
            <a:endParaRPr lang="en-US" sz="6800" dirty="0"/>
          </a:p>
          <a:p>
            <a:pPr algn="l" indent="0" marL="0">
              <a:lnSpc>
                <a:spcPts val="7140"/>
              </a:lnSpc>
              <a:buNone/>
            </a:pPr>
            <a:r>
              <a:rPr lang="en-US" sz="6800" b="1" i="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Algorithm</a:t>
            </a:r>
            <a:endParaRPr lang="en-US" sz="6800" dirty="0"/>
          </a:p>
        </p:txBody>
      </p:sp>
      <p:sp>
        <p:nvSpPr>
          <p:cNvPr id="6" name="Text 3"/>
          <p:cNvSpPr/>
          <p:nvPr/>
        </p:nvSpPr>
        <p:spPr>
          <a:xfrm>
            <a:off x="812800" y="4249420"/>
            <a:ext cx="588645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B8C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Finding the shortest path in a weighted graph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12800" y="623824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Structures and Algorithms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4900" y="6238241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Made with Claude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1F7A7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31572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Shortest path in a weighted graph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2072640"/>
            <a:ext cx="91567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Given a starting vertex, find the cheapest route to every other vertex.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15975" y="2672715"/>
            <a:ext cx="3380264" cy="1741170"/>
          </a:xfrm>
          <a:prstGeom prst="roundRect">
            <a:avLst>
              <a:gd name="adj" fmla="val 5653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1880" y="2928620"/>
            <a:ext cx="29545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1880" y="3304540"/>
            <a:ext cx="2954507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graph with non-negative edge weights and one source vertex.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05789" y="2672715"/>
            <a:ext cx="3380343" cy="1741170"/>
          </a:xfrm>
          <a:prstGeom prst="roundRect">
            <a:avLst>
              <a:gd name="adj" fmla="val 5653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1694" y="292862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1694" y="3304540"/>
            <a:ext cx="2954589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minimum total weight from the source to every other vertex.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95682" y="2672715"/>
            <a:ext cx="3380343" cy="1741170"/>
          </a:xfrm>
          <a:prstGeom prst="roundRect">
            <a:avLst>
              <a:gd name="adj" fmla="val 5653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1587" y="292862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51587" y="3304540"/>
            <a:ext cx="2954589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a road map, junctions are vertices and road lengths are weights.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1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Dijkstra’s Algorithm ·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4900" y="6238241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Made with Claude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ORIGINS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31572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Edsger W. Dijkstra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2072641"/>
            <a:ext cx="9156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B8C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Dutch computer scientist (1930–2002) who devised the algorithm to show what a computer could do with a simple problem.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12800" y="3012441"/>
            <a:ext cx="3386614" cy="2174240"/>
          </a:xfrm>
          <a:prstGeom prst="roundRect">
            <a:avLst>
              <a:gd name="adj" fmla="val 4673"/>
            </a:avLst>
          </a:prstGeom>
          <a:solidFill>
            <a:srgbClr val="1E2F55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3266441"/>
            <a:ext cx="296497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1956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066800" y="4079241"/>
            <a:ext cx="2964972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Conceives the algorithm, reportedly in about twenty minutes.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02614" y="3012441"/>
            <a:ext cx="3386693" cy="2174240"/>
          </a:xfrm>
          <a:prstGeom prst="roundRect">
            <a:avLst>
              <a:gd name="adj" fmla="val 4673"/>
            </a:avLst>
          </a:prstGeom>
          <a:solidFill>
            <a:srgbClr val="1E2F55"/>
          </a:solidFill>
          <a:ln/>
        </p:spPr>
      </p:sp>
      <p:sp>
        <p:nvSpPr>
          <p:cNvPr id="10" name="Text 8"/>
          <p:cNvSpPr/>
          <p:nvPr/>
        </p:nvSpPr>
        <p:spPr>
          <a:xfrm>
            <a:off x="4656614" y="3266441"/>
            <a:ext cx="2965054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1959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656614" y="4079241"/>
            <a:ext cx="29650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Publishes it in the journal Numerische Mathematik.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92507" y="3012441"/>
            <a:ext cx="3386693" cy="2174240"/>
          </a:xfrm>
          <a:prstGeom prst="roundRect">
            <a:avLst>
              <a:gd name="adj" fmla="val 4673"/>
            </a:avLst>
          </a:prstGeom>
          <a:solidFill>
            <a:srgbClr val="1E2F55"/>
          </a:solidFill>
          <a:ln/>
        </p:spPr>
      </p:sp>
      <p:sp>
        <p:nvSpPr>
          <p:cNvPr id="13" name="Text 11"/>
          <p:cNvSpPr/>
          <p:nvPr/>
        </p:nvSpPr>
        <p:spPr>
          <a:xfrm>
            <a:off x="8246507" y="3266441"/>
            <a:ext cx="2965054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1972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246507" y="4079241"/>
            <a:ext cx="2965054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Receives the Turing Award for his work on programming languages.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1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Dijkstra’s Algorithm ·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A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4900" y="62382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Made with Claude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56464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CORE IDEA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067561"/>
            <a:ext cx="9810750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settle the closest unvisited vertex next.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3662680"/>
            <a:ext cx="9156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non-negative weights, no later route can beat the shortest known distance to that vertex, so its distance is final.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4602480"/>
            <a:ext cx="1919288" cy="48768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Greedy choice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84488" y="4602480"/>
            <a:ext cx="2397046" cy="48768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Relaxation of edges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Dijkstra’s Algorithm ·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4900" y="62382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Made with Claude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1F7A7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4173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algorithm in four steps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2279014"/>
            <a:ext cx="2482850" cy="2411730"/>
          </a:xfrm>
          <a:prstGeom prst="roundRect">
            <a:avLst>
              <a:gd name="adj" fmla="val 4081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1080" y="2484121"/>
            <a:ext cx="213481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7A7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21080" y="3042921"/>
            <a:ext cx="213481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Initialise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1080" y="3418839"/>
            <a:ext cx="213481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the source distance to 0 and every other vertex to infinity.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08375" y="2279014"/>
            <a:ext cx="2482850" cy="2411730"/>
          </a:xfrm>
          <a:prstGeom prst="roundRect">
            <a:avLst>
              <a:gd name="adj" fmla="val 4081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3480" y="2484121"/>
            <a:ext cx="213481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7A7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713480" y="3042921"/>
            <a:ext cx="213481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13480" y="3418839"/>
            <a:ext cx="213481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Choose the unvisited vertex with the smallest known distance.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00775" y="2279014"/>
            <a:ext cx="2482850" cy="2411730"/>
          </a:xfrm>
          <a:prstGeom prst="roundRect">
            <a:avLst>
              <a:gd name="adj" fmla="val 4081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5880" y="2484121"/>
            <a:ext cx="213481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7A7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5880" y="3042921"/>
            <a:ext cx="213481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Relax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5880" y="3418839"/>
            <a:ext cx="213481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each neighbour, keep the smaller of its old distance and the new route.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93175" y="2279014"/>
            <a:ext cx="2482850" cy="2411730"/>
          </a:xfrm>
          <a:prstGeom prst="roundRect">
            <a:avLst>
              <a:gd name="adj" fmla="val 4081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2484121"/>
            <a:ext cx="213481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7A7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098280" y="3042921"/>
            <a:ext cx="213481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98280" y="3418839"/>
            <a:ext cx="213481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 the vertex visited and loop until every vertex is settled.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Dijkstra’s Algorithm · 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4900" y="62382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Made with Claude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1F7A7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3157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graph with five vertices</a:t>
            </a:r>
            <a:endParaRPr lang="en-US" sz="3600" dirty="0"/>
          </a:p>
        </p:txBody>
      </p:sp>
      <p:pic>
        <p:nvPicPr>
          <p:cNvPr id="5" name="Image 0" descr="Graph with vertices A to E and weighted edges: A-B 4, A-C 2, B-C 1, B-D 5, C-D 8, C-E 10, D-E 2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072639"/>
            <a:ext cx="6350000" cy="330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9500" y="3444239"/>
            <a:ext cx="609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921000" y="2301239"/>
            <a:ext cx="609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921000" y="4587239"/>
            <a:ext cx="609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80000" y="2682239"/>
            <a:ext cx="609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223000" y="4333239"/>
            <a:ext cx="609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101850" y="2999739"/>
            <a:ext cx="406400" cy="299720"/>
          </a:xfrm>
          <a:prstGeom prst="rect">
            <a:avLst/>
          </a:prstGeom>
          <a:solidFill>
            <a:srgbClr val="F6F4EE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101850" y="4142739"/>
            <a:ext cx="406400" cy="299720"/>
          </a:xfrm>
          <a:prstGeom prst="rect">
            <a:avLst/>
          </a:prstGeom>
          <a:solidFill>
            <a:srgbClr val="F6F4EE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022600" y="3571239"/>
            <a:ext cx="406400" cy="299720"/>
          </a:xfrm>
          <a:prstGeom prst="rect">
            <a:avLst/>
          </a:prstGeom>
          <a:solidFill>
            <a:srgbClr val="F6F4EE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102100" y="2618739"/>
            <a:ext cx="406400" cy="299720"/>
          </a:xfrm>
          <a:prstGeom prst="rect">
            <a:avLst/>
          </a:prstGeom>
          <a:solidFill>
            <a:srgbClr val="F6F4EE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102100" y="3761739"/>
            <a:ext cx="406400" cy="299720"/>
          </a:xfrm>
          <a:prstGeom prst="rect">
            <a:avLst/>
          </a:prstGeom>
          <a:solidFill>
            <a:srgbClr val="F6F4EE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73600" y="4587239"/>
            <a:ext cx="406400" cy="299720"/>
          </a:xfrm>
          <a:prstGeom prst="rect">
            <a:avLst/>
          </a:prstGeom>
          <a:solidFill>
            <a:srgbClr val="F6F4EE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753100" y="3634739"/>
            <a:ext cx="406400" cy="299720"/>
          </a:xfrm>
          <a:prstGeom prst="rect">
            <a:avLst/>
          </a:prstGeom>
          <a:solidFill>
            <a:srgbClr val="F6F4EE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467600" y="2435861"/>
            <a:ext cx="3911600" cy="2575560"/>
          </a:xfrm>
          <a:prstGeom prst="roundRect">
            <a:avLst>
              <a:gd name="adj" fmla="val 3945"/>
            </a:avLst>
          </a:prstGeom>
          <a:solidFill>
            <a:srgbClr val="14213D"/>
          </a:solidFill>
          <a:ln/>
        </p:spPr>
      </p:sp>
      <p:sp>
        <p:nvSpPr>
          <p:cNvPr id="19" name="Text 16"/>
          <p:cNvSpPr/>
          <p:nvPr/>
        </p:nvSpPr>
        <p:spPr>
          <a:xfrm>
            <a:off x="7721600" y="2689861"/>
            <a:ext cx="35057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721600" y="3091182"/>
            <a:ext cx="35057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 the shortest distance from source A to every other vertex.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21600" y="3787139"/>
            <a:ext cx="35057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Edge weights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721600" y="4188461"/>
            <a:ext cx="35057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non-negative, as the algorithm requires.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Dijkstra’s Algorithm · 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4900" y="6238239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Made with Claude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1F7A7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649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Distances after each step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81199"/>
          <a:ext cx="10556240" cy="3058160"/>
        </p:xfrm>
        <a:graphic>
          <a:graphicData uri="http://schemas.openxmlformats.org/drawingml/2006/table">
            <a:tbl>
              <a:tblPr/>
              <a:tblGrid>
                <a:gridCol w="1477874"/>
                <a:gridCol w="1477874"/>
                <a:gridCol w="1477874"/>
                <a:gridCol w="1477874"/>
                <a:gridCol w="1477874"/>
                <a:gridCol w="1583436"/>
                <a:gridCol w="1583436"/>
              </a:tblGrid>
              <a:tr h="43688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Step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Visit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Start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none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∞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∞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∞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∞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∞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∞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12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12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 (final)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5242561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Shortest path to E: A → C → B → D → E, total cost 10.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Dijkstra’s Algorithm · 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4900" y="6238242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Made with Claude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55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9"/>
              </a:lnSpc>
              <a:buNone/>
            </a:pPr>
            <a:r>
              <a:rPr lang="en-US" sz="1299" b="1" spc="200" kern="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IT WORKS</a:t>
            </a:r>
            <a:endParaRPr lang="en-US" sz="1299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46426"/>
            <a:ext cx="10883392" cy="491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63"/>
              </a:lnSpc>
              <a:buNone/>
            </a:pPr>
            <a:r>
              <a:rPr lang="en-US" sz="3330" b="1" i="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Pseudocode</a:t>
            </a:r>
            <a:endParaRPr lang="en-US" sz="3330" dirty="0"/>
          </a:p>
        </p:txBody>
      </p:sp>
      <p:sp>
        <p:nvSpPr>
          <p:cNvPr id="5" name="Shape 3"/>
          <p:cNvSpPr/>
          <p:nvPr/>
        </p:nvSpPr>
        <p:spPr>
          <a:xfrm>
            <a:off x="812800" y="1915241"/>
            <a:ext cx="6360160" cy="3926761"/>
          </a:xfrm>
          <a:prstGeom prst="roundRect">
            <a:avLst>
              <a:gd name="adj" fmla="val 2587"/>
            </a:avLst>
          </a:prstGeom>
          <a:solidFill>
            <a:srgbClr val="0E1830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169241"/>
            <a:ext cx="6027725" cy="269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282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function Dijkstra(graph, source):</a:t>
            </a:r>
            <a:endParaRPr lang="en-US" sz="1282" dirty="0"/>
          </a:p>
        </p:txBody>
      </p:sp>
      <p:sp>
        <p:nvSpPr>
          <p:cNvPr id="7" name="Text 5"/>
          <p:cNvSpPr/>
          <p:nvPr/>
        </p:nvSpPr>
        <p:spPr>
          <a:xfrm>
            <a:off x="1320800" y="2413477"/>
            <a:ext cx="5766105" cy="269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282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each vertex v:</a:t>
            </a:r>
            <a:endParaRPr lang="en-US" sz="1282" dirty="0"/>
          </a:p>
        </p:txBody>
      </p:sp>
      <p:sp>
        <p:nvSpPr>
          <p:cNvPr id="8" name="Text 6"/>
          <p:cNvSpPr/>
          <p:nvPr/>
        </p:nvSpPr>
        <p:spPr>
          <a:xfrm>
            <a:off x="1574800" y="2657633"/>
            <a:ext cx="5504485" cy="269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282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dist[v] = infinity</a:t>
            </a:r>
            <a:endParaRPr lang="en-US" sz="1282" dirty="0"/>
          </a:p>
        </p:txBody>
      </p:sp>
      <p:sp>
        <p:nvSpPr>
          <p:cNvPr id="9" name="Text 7"/>
          <p:cNvSpPr/>
          <p:nvPr/>
        </p:nvSpPr>
        <p:spPr>
          <a:xfrm>
            <a:off x="1320800" y="2901872"/>
            <a:ext cx="5766105" cy="269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282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dist[source] = 0</a:t>
            </a:r>
            <a:endParaRPr lang="en-US" sz="1282" dirty="0"/>
          </a:p>
        </p:txBody>
      </p:sp>
      <p:sp>
        <p:nvSpPr>
          <p:cNvPr id="10" name="Text 8"/>
          <p:cNvSpPr/>
          <p:nvPr/>
        </p:nvSpPr>
        <p:spPr>
          <a:xfrm>
            <a:off x="1320800" y="3146028"/>
            <a:ext cx="5766105" cy="269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282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queue = all vertices, keyed by dist</a:t>
            </a:r>
            <a:endParaRPr lang="en-US" sz="1282" dirty="0"/>
          </a:p>
        </p:txBody>
      </p:sp>
      <p:sp>
        <p:nvSpPr>
          <p:cNvPr id="11" name="Text 9"/>
          <p:cNvSpPr/>
          <p:nvPr/>
        </p:nvSpPr>
        <p:spPr>
          <a:xfrm>
            <a:off x="1320800" y="3390264"/>
            <a:ext cx="5766105" cy="269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282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 queue is not empty:</a:t>
            </a:r>
            <a:endParaRPr lang="en-US" sz="1282" dirty="0"/>
          </a:p>
        </p:txBody>
      </p:sp>
      <p:sp>
        <p:nvSpPr>
          <p:cNvPr id="12" name="Text 10"/>
          <p:cNvSpPr/>
          <p:nvPr/>
        </p:nvSpPr>
        <p:spPr>
          <a:xfrm>
            <a:off x="1574800" y="3634423"/>
            <a:ext cx="5504485" cy="269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282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 = vertex in queue with smallest dist</a:t>
            </a:r>
            <a:endParaRPr lang="en-US" sz="1282" dirty="0"/>
          </a:p>
        </p:txBody>
      </p:sp>
      <p:sp>
        <p:nvSpPr>
          <p:cNvPr id="13" name="Text 11"/>
          <p:cNvSpPr/>
          <p:nvPr/>
        </p:nvSpPr>
        <p:spPr>
          <a:xfrm>
            <a:off x="1574800" y="3878659"/>
            <a:ext cx="5504485" cy="269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282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remove u from queue</a:t>
            </a:r>
            <a:endParaRPr lang="en-US" sz="1282" dirty="0"/>
          </a:p>
        </p:txBody>
      </p:sp>
      <p:sp>
        <p:nvSpPr>
          <p:cNvPr id="14" name="Text 12"/>
          <p:cNvSpPr/>
          <p:nvPr/>
        </p:nvSpPr>
        <p:spPr>
          <a:xfrm>
            <a:off x="1574800" y="4122818"/>
            <a:ext cx="5504485" cy="269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282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each neighbour v of u:</a:t>
            </a:r>
            <a:endParaRPr lang="en-US" sz="1282" dirty="0"/>
          </a:p>
        </p:txBody>
      </p:sp>
      <p:sp>
        <p:nvSpPr>
          <p:cNvPr id="15" name="Text 13"/>
          <p:cNvSpPr/>
          <p:nvPr/>
        </p:nvSpPr>
        <p:spPr>
          <a:xfrm>
            <a:off x="1828800" y="4367057"/>
            <a:ext cx="5242865" cy="269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282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alt = dist[u] + weight(u, v)</a:t>
            </a:r>
            <a:endParaRPr lang="en-US" sz="1282" dirty="0"/>
          </a:p>
        </p:txBody>
      </p:sp>
      <p:sp>
        <p:nvSpPr>
          <p:cNvPr id="16" name="Text 14"/>
          <p:cNvSpPr/>
          <p:nvPr/>
        </p:nvSpPr>
        <p:spPr>
          <a:xfrm>
            <a:off x="1828800" y="4611210"/>
            <a:ext cx="5242865" cy="269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282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alt &lt; dist[v]:</a:t>
            </a:r>
            <a:endParaRPr lang="en-US" sz="1282" dirty="0"/>
          </a:p>
        </p:txBody>
      </p:sp>
      <p:sp>
        <p:nvSpPr>
          <p:cNvPr id="17" name="Text 15"/>
          <p:cNvSpPr/>
          <p:nvPr/>
        </p:nvSpPr>
        <p:spPr>
          <a:xfrm>
            <a:off x="2082800" y="4855449"/>
            <a:ext cx="4981245" cy="269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282" dirty="0">
                <a:solidFill>
                  <a:srgbClr val="5CC8C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dist[v] = alt</a:t>
            </a:r>
            <a:endParaRPr lang="en-US" sz="1282" dirty="0"/>
          </a:p>
        </p:txBody>
      </p:sp>
      <p:sp>
        <p:nvSpPr>
          <p:cNvPr id="18" name="Text 16"/>
          <p:cNvSpPr/>
          <p:nvPr/>
        </p:nvSpPr>
        <p:spPr>
          <a:xfrm>
            <a:off x="2082800" y="5099608"/>
            <a:ext cx="4981245" cy="269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282" dirty="0">
                <a:solidFill>
                  <a:srgbClr val="5CC8C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prev[v] = u</a:t>
            </a:r>
            <a:endParaRPr lang="en-US" sz="1282" dirty="0"/>
          </a:p>
        </p:txBody>
      </p:sp>
      <p:sp>
        <p:nvSpPr>
          <p:cNvPr id="19" name="Text 17"/>
          <p:cNvSpPr/>
          <p:nvPr/>
        </p:nvSpPr>
        <p:spPr>
          <a:xfrm>
            <a:off x="1320800" y="5343841"/>
            <a:ext cx="5766105" cy="269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282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 dist, prev</a:t>
            </a:r>
            <a:endParaRPr lang="en-US" sz="1282" dirty="0"/>
          </a:p>
        </p:txBody>
      </p:sp>
      <p:sp>
        <p:nvSpPr>
          <p:cNvPr id="20" name="Text 18"/>
          <p:cNvSpPr/>
          <p:nvPr/>
        </p:nvSpPr>
        <p:spPr>
          <a:xfrm>
            <a:off x="7477760" y="1915241"/>
            <a:ext cx="401848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77760" y="2240359"/>
            <a:ext cx="401848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C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known distance from the source to each vertex.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77760" y="2926159"/>
            <a:ext cx="401848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prev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77760" y="3251281"/>
            <a:ext cx="401848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C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vertex before each one on its best path, used to rebuild routes.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77760" y="3937081"/>
            <a:ext cx="401848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queue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77760" y="4262202"/>
            <a:ext cx="401848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C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priority queue that returns the closest unvisited vertex.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Dijkstra’s Algorithm · 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4900" y="6238242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Made with Claude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1F7A7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3157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complexity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82802"/>
          <a:ext cx="10556240" cy="2032000"/>
        </p:xfrm>
        <a:graphic>
          <a:graphicData uri="http://schemas.openxmlformats.org/drawingml/2006/table">
            <a:tbl>
              <a:tblPr/>
              <a:tblGrid>
                <a:gridCol w="2955747"/>
                <a:gridCol w="3377997"/>
                <a:gridCol w="4222496"/>
              </a:tblGrid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Priority queue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Running time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When it fits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Simple array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O(V²)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Dense graphs with many edges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Binary heap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O((V + E) log V)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Sparse graphs, the common choice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D"/>
                    </a:solidFill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Fibonacci heap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O(E + V log V)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Best theoretical bound, rarely worth the complexity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368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 is the number of vertices and E the number of edges. Memory use is O(V).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Dijkstra’s Algorithm · 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4900" y="6238242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Made with Claude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COMPARISON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649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Limits and alternatives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81202"/>
          <a:ext cx="10556240" cy="2166620"/>
        </p:xfrm>
        <a:graphic>
          <a:graphicData uri="http://schemas.openxmlformats.org/drawingml/2006/table">
            <a:tbl>
              <a:tblPr/>
              <a:tblGrid>
                <a:gridCol w="1900123"/>
                <a:gridCol w="3166872"/>
                <a:gridCol w="2744622"/>
                <a:gridCol w="2744622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Algorithm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Edge weights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F4B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Running time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F4B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Best for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F4B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BFS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Unweighted only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O(V + E)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Fewest hops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B7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55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Dijkstra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Non-negative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O((V + E) log V) with a heap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One source, weighted graphs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8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Bellman-Ford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Negative allowed, detects negative cycles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O(V × E)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Graphs with negative edges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55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A*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Non-negative, plus a heuristic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Depends on the heuristic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One source to one target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35102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C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Negative edges break Dijkstra, because a settled vertex could later be improved.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Dijkstra’s Algorithm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4900" y="6238242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Made with Claude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1F7A7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4173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Real-world uses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2279017"/>
            <a:ext cx="2482850" cy="2386330"/>
          </a:xfrm>
          <a:prstGeom prst="roundRect">
            <a:avLst>
              <a:gd name="adj" fmla="val 4125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</p:sp>
      <p:pic>
        <p:nvPicPr>
          <p:cNvPr id="6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1080" y="2484121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1080" y="3068321"/>
            <a:ext cx="2134819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Maps and navigation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21080" y="3713479"/>
            <a:ext cx="2134819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GPS apps find the fastest route between two places.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508375" y="2279017"/>
            <a:ext cx="2482850" cy="2386330"/>
          </a:xfrm>
          <a:prstGeom prst="roundRect">
            <a:avLst>
              <a:gd name="adj" fmla="val 4125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</p:sp>
      <p:pic>
        <p:nvPicPr>
          <p:cNvPr id="10" name="Image 1" descr="Lin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13480" y="2484121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13480" y="3068321"/>
            <a:ext cx="213481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 routing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713480" y="3454400"/>
            <a:ext cx="2134819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Protocols such as OSPF and IS-IS compute routes with it.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00775" y="2279017"/>
            <a:ext cx="2482850" cy="2386330"/>
          </a:xfrm>
          <a:prstGeom prst="roundRect">
            <a:avLst>
              <a:gd name="adj" fmla="val 4125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</p:sp>
      <p:pic>
        <p:nvPicPr>
          <p:cNvPr id="14" name="Image 2" descr="Pla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5880" y="2484121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5880" y="3068321"/>
            <a:ext cx="2134819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Games and robotics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405880" y="3713479"/>
            <a:ext cx="2134819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Characters and robots plan the cheapest path across a map.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893175" y="2279017"/>
            <a:ext cx="2482850" cy="2386330"/>
          </a:xfrm>
          <a:prstGeom prst="roundRect">
            <a:avLst>
              <a:gd name="adj" fmla="val 4125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</p:sp>
      <p:pic>
        <p:nvPicPr>
          <p:cNvPr id="18" name="Image 3" descr="Char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98280" y="2484121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98280" y="3068321"/>
            <a:ext cx="2134819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Logistics and transit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9098280" y="3713479"/>
            <a:ext cx="2134819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Delivery and transit planners minimise travel time or cost.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Dijkstra’s Algorithm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4900" y="6238242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Made with Claude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3157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2010" y="2072642"/>
            <a:ext cx="977392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4790" indent="-22479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finds shortest paths from one source when all edge weights are non-negative.</a:t>
            </a:r>
            <a:endParaRPr lang="en-US" sz="2000" dirty="0"/>
          </a:p>
          <a:p>
            <a:pPr algn="l" marL="224790" indent="-22479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is greedy: settle the closest unvisited vertex, then relax its edges.</a:t>
            </a:r>
            <a:endParaRPr lang="en-US" sz="2000" dirty="0"/>
          </a:p>
          <a:p>
            <a:pPr algn="l" marL="224790" indent="-22479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a binary heap it runs in O((V + E) log V) time.</a:t>
            </a:r>
            <a:endParaRPr lang="en-US" sz="2000" dirty="0"/>
          </a:p>
          <a:p>
            <a:pPr algn="l" marL="224790" indent="-22479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negative weights, switch to Bellman-Ford.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2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Dijkstra’s Algorithm ·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jkstra’s Algorithm">
  <a:themeElements>
    <a:clrScheme name="Dijkstra’s Algorithm">
      <a:dk1>
        <a:srgbClr val="14213D"/>
      </a:dk1>
      <a:lt1>
        <a:srgbClr val="F6F4EE"/>
      </a:lt1>
      <a:dk2>
        <a:srgbClr val="4D5669"/>
      </a:dk2>
      <a:lt2>
        <a:srgbClr val="DFDFDC"/>
      </a:lt2>
      <a:accent1>
        <a:srgbClr val="F2A541"/>
      </a:accent1>
      <a:accent2>
        <a:srgbClr val="1F7A76"/>
      </a:accent2>
      <a:accent3>
        <a:srgbClr val="5CC8C0"/>
      </a:accent3>
      <a:accent4>
        <a:srgbClr val="B8C2D6"/>
      </a:accent4>
      <a:accent5>
        <a:srgbClr val="4A5568"/>
      </a:accent5>
      <a:accent6>
        <a:srgbClr val="5A6270"/>
      </a:accent6>
      <a:hlink>
        <a:srgbClr val="0563C1"/>
      </a:hlink>
      <a:folHlink>
        <a:srgbClr val="954F72"/>
      </a:folHlink>
    </a:clrScheme>
    <a:fontScheme name="Dijkstra’s Algorithm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Dijkstra’s Algorithm</dc:title>
  <dc:subject/>
  <dc:creator/>
  <cp:lastModifiedBy/>
  <cp:revision>1</cp:revision>
  <dcterms:created xsi:type="dcterms:W3CDTF">2026-10-18T15:35:13Z</dcterms:created>
  <dcterms:modified xsi:type="dcterms:W3CDTF">2026-10-18T15:35:13Z</dcterms:modified>
</cp:coreProperties>
</file>